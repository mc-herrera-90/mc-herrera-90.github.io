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312" r:id="rId4"/>
    <p:sldId id="306" r:id="rId5"/>
    <p:sldId id="308" r:id="rId6"/>
    <p:sldId id="307" r:id="rId7"/>
    <p:sldId id="309" r:id="rId8"/>
    <p:sldId id="310" r:id="rId9"/>
    <p:sldId id="311" r:id="rId10"/>
    <p:sldId id="303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4660"/>
  </p:normalViewPr>
  <p:slideViewPr>
    <p:cSldViewPr snapToGrid="0">
      <p:cViewPr>
        <p:scale>
          <a:sx n="75" d="100"/>
          <a:sy n="75" d="100"/>
        </p:scale>
        <p:origin x="13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0D40D20-4CF7-A20D-166D-1FC1F4823B27}"/>
              </a:ext>
            </a:extLst>
          </p:cNvPr>
          <p:cNvSpPr/>
          <p:nvPr userDrawn="1"/>
        </p:nvSpPr>
        <p:spPr>
          <a:xfrm>
            <a:off x="0" y="6185602"/>
            <a:ext cx="12192000" cy="67239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755179-0B8F-98DA-6D4B-74E600EFA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275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BDE5F5-7898-084C-1D34-40EE267D4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5933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L" dirty="0"/>
          </a:p>
        </p:txBody>
      </p:sp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38F8FE5-00C5-3903-1D83-58DA9C3C11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73" y="362943"/>
            <a:ext cx="4124036" cy="672397"/>
          </a:xfrm>
          <a:prstGeom prst="rect">
            <a:avLst/>
          </a:prstGeom>
        </p:spPr>
      </p:pic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D6765D86-5BF0-E155-D45E-A556C923D94E}"/>
              </a:ext>
            </a:extLst>
          </p:cNvPr>
          <p:cNvSpPr txBox="1">
            <a:spLocks/>
          </p:cNvSpPr>
          <p:nvPr userDrawn="1"/>
        </p:nvSpPr>
        <p:spPr>
          <a:xfrm>
            <a:off x="1524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L"/>
            </a:defPPr>
            <a:lvl1pPr marL="0" algn="l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b="0" dirty="0"/>
              <a:t>Academias IT</a:t>
            </a:r>
          </a:p>
        </p:txBody>
      </p:sp>
      <p:sp>
        <p:nvSpPr>
          <p:cNvPr id="12" name="Marcador de fecha 3">
            <a:extLst>
              <a:ext uri="{FF2B5EF4-FFF2-40B4-BE49-F238E27FC236}">
                <a16:creationId xmlns:a16="http://schemas.microsoft.com/office/drawing/2014/main" id="{25F26DE6-8C88-5657-7070-98E2F55894F5}"/>
              </a:ext>
            </a:extLst>
          </p:cNvPr>
          <p:cNvSpPr txBox="1">
            <a:spLocks/>
          </p:cNvSpPr>
          <p:nvPr userDrawn="1"/>
        </p:nvSpPr>
        <p:spPr>
          <a:xfrm>
            <a:off x="9296400" y="63563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L"/>
            </a:defPPr>
            <a:lvl1pPr marL="0" algn="l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b="0" dirty="0"/>
              <a:t>Alex A. Díaz Araos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187A2D1-A3A3-FC11-3F3B-BAA925F73F02}"/>
              </a:ext>
            </a:extLst>
          </p:cNvPr>
          <p:cNvCxnSpPr/>
          <p:nvPr userDrawn="1"/>
        </p:nvCxnSpPr>
        <p:spPr>
          <a:xfrm>
            <a:off x="1524000" y="4082473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6" name="Imagen 15" descr="Logotipo&#10;&#10;Descripción generada automáticamente">
            <a:extLst>
              <a:ext uri="{FF2B5EF4-FFF2-40B4-BE49-F238E27FC236}">
                <a16:creationId xmlns:a16="http://schemas.microsoft.com/office/drawing/2014/main" id="{3599229A-1383-08C9-096A-D03CFBA7C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18" y="438132"/>
            <a:ext cx="2336782" cy="67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27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6908C-46F2-633D-E0D4-1DF550B8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205"/>
            <a:ext cx="10515600" cy="789996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E7649-F66E-3AC6-1A8C-14E056A35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141"/>
            <a:ext cx="10515600" cy="4314822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6BF1B43-A293-E4F8-1576-6EAD057735C6}"/>
              </a:ext>
            </a:extLst>
          </p:cNvPr>
          <p:cNvSpPr/>
          <p:nvPr userDrawn="1"/>
        </p:nvSpPr>
        <p:spPr>
          <a:xfrm>
            <a:off x="0" y="6418676"/>
            <a:ext cx="12192000" cy="43932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DF30D148-11FE-57BD-66E9-87F5F244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73" y="362943"/>
            <a:ext cx="2694515" cy="439323"/>
          </a:xfrm>
          <a:prstGeom prst="rect">
            <a:avLst/>
          </a:prstGeom>
        </p:spPr>
      </p:pic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CE5749CB-1C21-5DE0-11AC-1519AB8697EB}"/>
              </a:ext>
            </a:extLst>
          </p:cNvPr>
          <p:cNvSpPr txBox="1">
            <a:spLocks/>
          </p:cNvSpPr>
          <p:nvPr userDrawn="1"/>
        </p:nvSpPr>
        <p:spPr>
          <a:xfrm>
            <a:off x="152400" y="6457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L"/>
            </a:defPPr>
            <a:lvl1pPr marL="0" algn="l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b="0" dirty="0"/>
              <a:t>Academias IT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0E8C919C-000A-BD14-68D1-2C505B503CCB}"/>
              </a:ext>
            </a:extLst>
          </p:cNvPr>
          <p:cNvSpPr txBox="1">
            <a:spLocks/>
          </p:cNvSpPr>
          <p:nvPr userDrawn="1"/>
        </p:nvSpPr>
        <p:spPr>
          <a:xfrm>
            <a:off x="9296400" y="6457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L"/>
            </a:defPPr>
            <a:lvl1pPr marL="0" algn="l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b="0" dirty="0"/>
              <a:t>Alex A. Díaz Araos</a:t>
            </a:r>
          </a:p>
        </p:txBody>
      </p:sp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DD73DDA6-1E3A-2CD1-E997-EAA9E4B190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547" y="362943"/>
            <a:ext cx="1514906" cy="43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3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DE690-10D1-3350-5C74-EDEA3397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34DB5-E0E9-1F9A-EADC-3EDAA39F8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CC5651-2B59-EF4E-6A1D-78E6AD6B4B42}"/>
              </a:ext>
            </a:extLst>
          </p:cNvPr>
          <p:cNvSpPr/>
          <p:nvPr userDrawn="1"/>
        </p:nvSpPr>
        <p:spPr>
          <a:xfrm>
            <a:off x="0" y="6418676"/>
            <a:ext cx="12192000" cy="43932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id="{1CC7A6AB-E922-BD25-D5E4-868C18404B4D}"/>
              </a:ext>
            </a:extLst>
          </p:cNvPr>
          <p:cNvSpPr txBox="1">
            <a:spLocks/>
          </p:cNvSpPr>
          <p:nvPr userDrawn="1"/>
        </p:nvSpPr>
        <p:spPr>
          <a:xfrm>
            <a:off x="152400" y="6457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L"/>
            </a:defPPr>
            <a:lvl1pPr marL="0" algn="l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b="0" dirty="0"/>
              <a:t>Academias IT</a:t>
            </a:r>
          </a:p>
        </p:txBody>
      </p:sp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DFD22B61-904D-975E-8987-324059E6E005}"/>
              </a:ext>
            </a:extLst>
          </p:cNvPr>
          <p:cNvSpPr txBox="1">
            <a:spLocks/>
          </p:cNvSpPr>
          <p:nvPr userDrawn="1"/>
        </p:nvSpPr>
        <p:spPr>
          <a:xfrm>
            <a:off x="9296400" y="6457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L"/>
            </a:defPPr>
            <a:lvl1pPr marL="0" algn="l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b="0" dirty="0"/>
              <a:t>Alex A. Díaz Araos</a:t>
            </a:r>
          </a:p>
        </p:txBody>
      </p:sp>
      <p:pic>
        <p:nvPicPr>
          <p:cNvPr id="10" name="Imagen 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DCFA511-5810-66E3-8322-C6EFC85109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73" y="362943"/>
            <a:ext cx="2694515" cy="439323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48F8E719-F85C-8583-A2B5-6EFBFDC2CB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547" y="362943"/>
            <a:ext cx="1514906" cy="43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1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C479C-1586-69BB-2E72-076413B8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48AAF8-9537-45DA-FFB2-BAAB2F967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003463-3CC6-CE3B-0492-EC3047644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D342DE-CF84-E670-BCEA-36BE13619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23EF-2190-4D4E-8C7E-9C036A900A00}" type="datetimeFigureOut">
              <a:rPr lang="es-CL" smtClean="0"/>
              <a:t>04-11-2025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B3B861-0208-9789-231E-69F56FF5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D6B3D4-9959-0B96-4FB8-00D3F9AF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1EE0-B271-43A6-8919-FC9E53F9246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9706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5D858-F72C-F301-761E-51AB2E4F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6C3C68-5D50-91B4-0FF3-21D625547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C4F861-BCC4-FA82-3BC8-350D0C210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4246FA-C94B-1435-AF55-89ADE10EA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121616-6EB4-A4F6-609E-952BC0A8C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F3DC883-F5D0-18BA-B9A9-5231798F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23EF-2190-4D4E-8C7E-9C036A900A00}" type="datetimeFigureOut">
              <a:rPr lang="es-CL" smtClean="0"/>
              <a:t>04-11-2025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2C9C73-BA21-FA15-BB41-708665B2C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DA95BD4-86D8-02A8-4118-CF02F6E8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1EE0-B271-43A6-8919-FC9E53F9246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8127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1FE2A-9452-C3F8-83A4-86274E9EA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B09DBD-40EA-B6A0-BB7F-59338E2C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23EF-2190-4D4E-8C7E-9C036A900A00}" type="datetimeFigureOut">
              <a:rPr lang="es-CL" smtClean="0"/>
              <a:t>04-11-2025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B6C420-DE48-85A6-C886-41976814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420504-B5BA-3F3E-F26B-0E84D3D4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1EE0-B271-43A6-8919-FC9E53F9246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1028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E43E479-649B-8B37-E85B-2961DC97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23EF-2190-4D4E-8C7E-9C036A900A00}" type="datetimeFigureOut">
              <a:rPr lang="es-CL" smtClean="0"/>
              <a:t>04-11-2025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5C4285-8C8E-7958-238A-30ED002F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AAD1B1-9A32-9BAA-04CE-363BFD17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1EE0-B271-43A6-8919-FC9E53F9246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373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7F544-961C-DDC1-67FD-ED748A38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880E3D-2F2F-D72A-0EBF-AB58782BB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081270-4B6F-9337-C7DD-D1FD3A5D3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2BFC34-2F4D-E8D8-58FD-836F80D5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23EF-2190-4D4E-8C7E-9C036A900A00}" type="datetimeFigureOut">
              <a:rPr lang="es-CL" smtClean="0"/>
              <a:t>04-11-2025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612A98-585D-32B0-1636-ECDA77193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9A8453-6FAB-4DFE-431E-8964BE92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1EE0-B271-43A6-8919-FC9E53F9246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75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C5175-C21B-C405-CE2E-B32137A1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9B1FB5F-3E8F-8A15-8B49-3C85F24D9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04DD5A-A953-7BE9-F196-E7BB70E46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FD92BB-F8A9-08E1-556F-47AE3118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23EF-2190-4D4E-8C7E-9C036A900A00}" type="datetimeFigureOut">
              <a:rPr lang="es-CL" smtClean="0"/>
              <a:t>04-11-2025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0248E6-712D-3AAA-5FA4-41BE275F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817D65-3188-AD08-C139-318FF920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1EE0-B271-43A6-8919-FC9E53F9246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190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F945A-9B99-2420-5CA7-8632E2B6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A2FF00-769A-6801-31B5-398C71AE3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2B55F3-06CA-5655-3F12-5B49885C8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23EF-2190-4D4E-8C7E-9C036A900A00}" type="datetimeFigureOut">
              <a:rPr lang="es-CL" smtClean="0"/>
              <a:t>04-11-2025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518FF5-471F-6D62-DE33-09FAA656D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57EA6F-8358-EAAC-337F-E8C799B2F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1EE0-B271-43A6-8919-FC9E53F9246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1456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AE036E-9562-F6F2-319E-704CDE388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AE8B29-2D00-BDD6-DBA4-A7B856C65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795FBF-3C5C-2C08-8D0B-C543A657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23EF-2190-4D4E-8C7E-9C036A900A00}" type="datetimeFigureOut">
              <a:rPr lang="es-CL" smtClean="0"/>
              <a:t>04-11-2025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69B41F-4A51-B75F-77FE-E5BFB288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95EED7-48DC-260C-6BDB-0129A5450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91EE0-B271-43A6-8919-FC9E53F9246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115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75D5C3D-05AB-5032-A80F-DEF2AE1D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E3ECCF-028D-FA6C-D6D9-C859516E2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4A5186-42F2-CDD5-D3E7-16ECE4469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923EF-2190-4D4E-8C7E-9C036A900A00}" type="datetimeFigureOut">
              <a:rPr lang="es-CL" smtClean="0"/>
              <a:t>04-11-2025</a:t>
            </a:fld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B60C60-5D9B-F759-4855-24BF89972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800213-F5CD-937F-96E6-1C9EFAB28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91EE0-B271-43A6-8919-FC9E53F9246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73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31147-3466-E67F-0AEE-8B43238748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Berlin Sans FB" panose="020E0602020502020306" pitchFamily="34" charset="0"/>
              </a:rPr>
              <a:t>Programación Orientada a Objeto Seguro</a:t>
            </a:r>
            <a:endParaRPr lang="es-CL" dirty="0">
              <a:latin typeface="Berlin Sans FB" panose="020E0602020502020306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509A6F-DFDD-DD19-CA39-D75B97423C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s-CL" dirty="0">
              <a:latin typeface="Berlin Sans FB" panose="020E0602020502020306" pitchFamily="34" charset="0"/>
            </a:endParaRPr>
          </a:p>
          <a:p>
            <a:r>
              <a:rPr lang="es-CL" dirty="0">
                <a:latin typeface="Berlin Sans FB" panose="020E0602020502020306" pitchFamily="34" charset="0"/>
              </a:rPr>
              <a:t>Alex Alfredo Díaz Araos</a:t>
            </a:r>
          </a:p>
          <a:p>
            <a:r>
              <a:rPr lang="es-CL" dirty="0">
                <a:latin typeface="Berlin Sans FB" panose="020E0602020502020306" pitchFamily="34" charset="0"/>
              </a:rPr>
              <a:t>Ingeniero Civil en Informática</a:t>
            </a:r>
          </a:p>
        </p:txBody>
      </p:sp>
    </p:spTree>
    <p:extLst>
      <p:ext uri="{BB962C8B-B14F-4D97-AF65-F5344CB8AC3E}">
        <p14:creationId xmlns:p14="http://schemas.microsoft.com/office/powerpoint/2010/main" val="3253607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1623C-3411-B4F0-8749-FFECC90F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9659169" cy="2852737"/>
          </a:xfrm>
        </p:spPr>
        <p:txBody>
          <a:bodyPr/>
          <a:lstStyle/>
          <a:p>
            <a:r>
              <a:rPr lang="es-MX" dirty="0"/>
              <a:t>Entorno Virtual.</a:t>
            </a:r>
            <a:br>
              <a:rPr lang="es-MX" dirty="0"/>
            </a:b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5D6F84-A387-E8E8-D6EF-954C4D9F8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Pasos para crear un entorno virtual en Python.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5019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D4533-58E3-98A9-EA1A-8195C73A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2FB4C-4EC2-CC88-D7F7-77D79EC4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/>
              <a:t>¿Qué es el entorno virtual en Python</a:t>
            </a:r>
            <a:r>
              <a:rPr lang="es-CL" sz="3200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2AFF7D-E7C0-58B7-D651-1405CDB8F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62141"/>
            <a:ext cx="10626213" cy="13687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600" dirty="0"/>
              <a:t>Un entorno virtual es una carpeta que contiene una instalación independiente de Python y todos los paquetes necesarios para un proyecto específico. Se crea con herramientas como:</a:t>
            </a:r>
          </a:p>
          <a:p>
            <a:pPr lvl="1"/>
            <a:r>
              <a:rPr lang="es-MX" sz="1600" b="1" dirty="0" err="1"/>
              <a:t>venv</a:t>
            </a:r>
            <a:r>
              <a:rPr lang="es-MX" sz="1600" dirty="0"/>
              <a:t> (incluida en Python desde la versión 3.3)</a:t>
            </a:r>
          </a:p>
          <a:p>
            <a:pPr lvl="1"/>
            <a:r>
              <a:rPr lang="es-MX" sz="1600" b="1" dirty="0" err="1"/>
              <a:t>virtualenv</a:t>
            </a:r>
            <a:r>
              <a:rPr lang="es-MX" sz="1600" dirty="0"/>
              <a:t> (una alternativa más flexible)</a:t>
            </a:r>
          </a:p>
          <a:p>
            <a:pPr lvl="1"/>
            <a:r>
              <a:rPr lang="es-MX" sz="1600" b="1" dirty="0" err="1"/>
              <a:t>conda</a:t>
            </a:r>
            <a:r>
              <a:rPr lang="es-MX" sz="1600" dirty="0"/>
              <a:t> (usada en entornos científicos y de datos)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2C4AB9D-DE53-800E-823A-E479BED7DBCE}"/>
              </a:ext>
            </a:extLst>
          </p:cNvPr>
          <p:cNvCxnSpPr>
            <a:cxnSpLocks/>
          </p:cNvCxnSpPr>
          <p:nvPr/>
        </p:nvCxnSpPr>
        <p:spPr>
          <a:xfrm>
            <a:off x="838200" y="163215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5DFDF76-C119-ACD3-C6AE-6BA7931B7C79}"/>
              </a:ext>
            </a:extLst>
          </p:cNvPr>
          <p:cNvCxnSpPr>
            <a:cxnSpLocks/>
          </p:cNvCxnSpPr>
          <p:nvPr/>
        </p:nvCxnSpPr>
        <p:spPr>
          <a:xfrm>
            <a:off x="838200" y="93720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806D8810-9ED1-91FF-9230-F1E17F1E82B9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78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/>
              <a:t>¿Para qué sirve?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11A3DAA-B32F-6562-BD47-78CA9368AD54}"/>
              </a:ext>
            </a:extLst>
          </p:cNvPr>
          <p:cNvSpPr txBox="1">
            <a:spLocks/>
          </p:cNvSpPr>
          <p:nvPr/>
        </p:nvSpPr>
        <p:spPr>
          <a:xfrm>
            <a:off x="893505" y="4142852"/>
            <a:ext cx="10626213" cy="206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dirty="0"/>
              <a:t>Los entornos virtuales son útiles para:</a:t>
            </a:r>
          </a:p>
          <a:p>
            <a:r>
              <a:rPr lang="es-MX" sz="1600" b="1" dirty="0"/>
              <a:t>Aislamiento de proyectos</a:t>
            </a:r>
            <a:r>
              <a:rPr lang="es-MX" sz="1600" dirty="0"/>
              <a:t>: Evitan conflictos entre versiones de paquetes usados en distintos proyectos.</a:t>
            </a:r>
          </a:p>
          <a:p>
            <a:r>
              <a:rPr lang="es-MX" sz="1600" b="1" dirty="0"/>
              <a:t>Control de dependencias</a:t>
            </a:r>
            <a:r>
              <a:rPr lang="es-MX" sz="1600" dirty="0"/>
              <a:t>: Permiten instalar solo los paquetes necesarios para un proyecto.</a:t>
            </a:r>
          </a:p>
          <a:p>
            <a:r>
              <a:rPr lang="es-MX" sz="1600" b="1" dirty="0"/>
              <a:t>Facilidad de despliegue</a:t>
            </a:r>
            <a:r>
              <a:rPr lang="es-MX" sz="1600" dirty="0"/>
              <a:t>: Facilitan la reproducción del entorno en otros sistemas (por ejemplo, usando requirements.txt).</a:t>
            </a:r>
          </a:p>
          <a:p>
            <a:r>
              <a:rPr lang="es-MX" sz="1600" b="1" dirty="0"/>
              <a:t>Seguridad y estabilidad</a:t>
            </a:r>
            <a:r>
              <a:rPr lang="es-MX" sz="1600" dirty="0"/>
              <a:t>: Protegen la instalación global de Python de cambios accidentales.</a:t>
            </a:r>
          </a:p>
        </p:txBody>
      </p:sp>
    </p:spTree>
    <p:extLst>
      <p:ext uri="{BB962C8B-B14F-4D97-AF65-F5344CB8AC3E}">
        <p14:creationId xmlns:p14="http://schemas.microsoft.com/office/powerpoint/2010/main" val="413706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A447D-A911-C64A-A7F2-5E30D7DE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/>
              <a:t>Pasos para crear un entorno virtual en Python</a:t>
            </a:r>
            <a:r>
              <a:rPr lang="es-CL" sz="3200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4B24B-1B6F-057D-8084-9A0427F60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141"/>
            <a:ext cx="10515600" cy="560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>
                <a:latin typeface="+mj-lt"/>
              </a:rPr>
              <a:t>1. Verifica que tienes Python instalado</a:t>
            </a:r>
            <a:endParaRPr lang="es-CL" sz="2000" dirty="0">
              <a:latin typeface="+mj-lt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89B65DC-A976-CDE5-2EF0-2FE8A687A4CC}"/>
              </a:ext>
            </a:extLst>
          </p:cNvPr>
          <p:cNvCxnSpPr>
            <a:cxnSpLocks/>
          </p:cNvCxnSpPr>
          <p:nvPr/>
        </p:nvCxnSpPr>
        <p:spPr>
          <a:xfrm>
            <a:off x="838200" y="163215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EF3E336-34DD-6735-798A-92930FCBEBE8}"/>
              </a:ext>
            </a:extLst>
          </p:cNvPr>
          <p:cNvCxnSpPr>
            <a:cxnSpLocks/>
          </p:cNvCxnSpPr>
          <p:nvPr/>
        </p:nvCxnSpPr>
        <p:spPr>
          <a:xfrm>
            <a:off x="838200" y="93720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D7638578-3E96-E348-912C-57591B0FBEE2}"/>
              </a:ext>
            </a:extLst>
          </p:cNvPr>
          <p:cNvSpPr txBox="1">
            <a:spLocks/>
          </p:cNvSpPr>
          <p:nvPr/>
        </p:nvSpPr>
        <p:spPr>
          <a:xfrm>
            <a:off x="838200" y="3633225"/>
            <a:ext cx="10515600" cy="560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2000" dirty="0">
                <a:latin typeface="+mj-lt"/>
              </a:rPr>
              <a:t>2. Instala </a:t>
            </a:r>
            <a:r>
              <a:rPr lang="es-MX" sz="2000" dirty="0" err="1">
                <a:latin typeface="+mj-lt"/>
              </a:rPr>
              <a:t>venv</a:t>
            </a:r>
            <a:r>
              <a:rPr lang="es-MX" sz="2000" dirty="0">
                <a:latin typeface="+mj-lt"/>
              </a:rPr>
              <a:t> (si no está disponible)</a:t>
            </a:r>
            <a:endParaRPr lang="es-CL" sz="2000" dirty="0">
              <a:latin typeface="+mj-lt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41C0204-3C64-C5D2-B5B3-F3FCAC562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35" y="2192931"/>
            <a:ext cx="5265876" cy="131075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7A86E6B3-EBA1-E73C-0DBA-3F804054E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35" y="3968649"/>
            <a:ext cx="10950889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94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5AF3-87F0-1461-B93C-F40CB206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B51D1-3D34-E81E-E3E6-B9ECDC10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/>
              <a:t>Pasos para crear un entorno virtual en Python</a:t>
            </a:r>
            <a:r>
              <a:rPr lang="es-CL" sz="3200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2CD776-7108-1B62-8871-A521BA8B5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141"/>
            <a:ext cx="10515600" cy="560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>
                <a:latin typeface="+mj-lt"/>
              </a:rPr>
              <a:t>3. Crea el entorno virtual</a:t>
            </a:r>
            <a:endParaRPr lang="es-CL" sz="2000" dirty="0">
              <a:latin typeface="+mj-lt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2E939FF-B115-3FCD-2D68-F18B572B913C}"/>
              </a:ext>
            </a:extLst>
          </p:cNvPr>
          <p:cNvCxnSpPr>
            <a:cxnSpLocks/>
          </p:cNvCxnSpPr>
          <p:nvPr/>
        </p:nvCxnSpPr>
        <p:spPr>
          <a:xfrm>
            <a:off x="838200" y="163215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D2F25FA-2570-758A-E565-92FB2F39585E}"/>
              </a:ext>
            </a:extLst>
          </p:cNvPr>
          <p:cNvCxnSpPr>
            <a:cxnSpLocks/>
          </p:cNvCxnSpPr>
          <p:nvPr/>
        </p:nvCxnSpPr>
        <p:spPr>
          <a:xfrm>
            <a:off x="838200" y="93720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BC40948F-9146-E2FC-1DA1-3B9468CC013C}"/>
              </a:ext>
            </a:extLst>
          </p:cNvPr>
          <p:cNvSpPr txBox="1">
            <a:spLocks/>
          </p:cNvSpPr>
          <p:nvPr/>
        </p:nvSpPr>
        <p:spPr>
          <a:xfrm>
            <a:off x="838200" y="3381765"/>
            <a:ext cx="10515600" cy="560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2000" dirty="0">
                <a:latin typeface="+mj-lt"/>
              </a:rPr>
              <a:t>4. Activa el entorno virtual</a:t>
            </a:r>
            <a:endParaRPr lang="es-CL" sz="2000"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AFF393-1FAD-0961-BF3A-B8412B5B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35" y="2192931"/>
            <a:ext cx="5395428" cy="101354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7277486-FC6A-ABAE-EC71-E16D4D11477D}"/>
              </a:ext>
            </a:extLst>
          </p:cNvPr>
          <p:cNvSpPr txBox="1"/>
          <p:nvPr/>
        </p:nvSpPr>
        <p:spPr>
          <a:xfrm>
            <a:off x="6705600" y="2291945"/>
            <a:ext cx="47588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Esto crea una carpeta llamada </a:t>
            </a:r>
            <a:r>
              <a:rPr lang="es-MX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evirtual</a:t>
            </a:r>
            <a:r>
              <a:rPr lang="es-MX" dirty="0"/>
              <a:t> con el entorno aislado.</a:t>
            </a:r>
            <a:endParaRPr lang="es-CL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56F97FD-89A5-F3E1-47E7-6595F2827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35" y="3774901"/>
            <a:ext cx="5395428" cy="115834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D3F2D4D-DCB2-0D4A-59D9-C223896B3153}"/>
              </a:ext>
            </a:extLst>
          </p:cNvPr>
          <p:cNvSpPr txBox="1"/>
          <p:nvPr/>
        </p:nvSpPr>
        <p:spPr>
          <a:xfrm>
            <a:off x="8153399" y="4061045"/>
            <a:ext cx="345948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/>
              <a:t>Windows (CMD):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rgbClr val="0070C0"/>
                </a:solidFill>
              </a:rPr>
              <a:t>venv\Scripts\actívate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CL" sz="1600" dirty="0"/>
          </a:p>
          <a:p>
            <a:r>
              <a:rPr lang="es-CL" sz="1600" dirty="0"/>
              <a:t>Windows (PowerShell)</a:t>
            </a:r>
            <a:r>
              <a:rPr lang="es-MX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rgbClr val="0070C0"/>
                </a:solidFill>
              </a:rPr>
              <a:t>venv\Scripts\Activate.ps1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sz="1600" dirty="0"/>
          </a:p>
          <a:p>
            <a:r>
              <a:rPr lang="es-MX" sz="1600" dirty="0"/>
              <a:t>Linux/Mac: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1600" dirty="0" err="1">
                <a:solidFill>
                  <a:srgbClr val="0070C0"/>
                </a:solidFill>
              </a:rPr>
              <a:t>source</a:t>
            </a:r>
            <a:r>
              <a:rPr lang="es-CL" sz="1600" dirty="0">
                <a:solidFill>
                  <a:srgbClr val="0070C0"/>
                </a:solidFill>
              </a:rPr>
              <a:t> venv/</a:t>
            </a:r>
            <a:r>
              <a:rPr lang="es-CL" sz="1600" dirty="0" err="1">
                <a:solidFill>
                  <a:srgbClr val="0070C0"/>
                </a:solidFill>
              </a:rPr>
              <a:t>bin</a:t>
            </a:r>
            <a:r>
              <a:rPr lang="es-CL" sz="1600" dirty="0">
                <a:solidFill>
                  <a:srgbClr val="0070C0"/>
                </a:solidFill>
              </a:rPr>
              <a:t>/</a:t>
            </a:r>
            <a:r>
              <a:rPr lang="es-CL" sz="1600" dirty="0" err="1">
                <a:solidFill>
                  <a:srgbClr val="0070C0"/>
                </a:solidFill>
              </a:rPr>
              <a:t>activate</a:t>
            </a:r>
            <a:endParaRPr lang="es-CL" sz="1600" dirty="0">
              <a:solidFill>
                <a:srgbClr val="0070C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45A944-E3EF-BDB8-4385-BB18FF0C0D98}"/>
              </a:ext>
            </a:extLst>
          </p:cNvPr>
          <p:cNvSpPr txBox="1"/>
          <p:nvPr/>
        </p:nvSpPr>
        <p:spPr>
          <a:xfrm>
            <a:off x="1108235" y="5122874"/>
            <a:ext cx="5395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Cuando esté activo, verás el nombre del entorno al inicio de la línea de comandos.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5219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CF507-E5E2-4E75-42F2-3114D6C6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9DDBD-12B9-48E1-6A5F-61FC64CE1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/>
              <a:t>Pasos para crear un entorno virtual en Python</a:t>
            </a:r>
            <a:r>
              <a:rPr lang="es-CL" sz="3200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858662-BF2A-C81A-8C44-CF2F8BC0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141"/>
            <a:ext cx="10515600" cy="560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>
                <a:latin typeface="+mj-lt"/>
              </a:rPr>
              <a:t>5. Instala dependencias dentro del entorno</a:t>
            </a:r>
            <a:endParaRPr lang="es-CL" sz="2000" dirty="0">
              <a:latin typeface="+mj-lt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F61ED53-21FB-6FFA-FA61-E7A5283D1069}"/>
              </a:ext>
            </a:extLst>
          </p:cNvPr>
          <p:cNvCxnSpPr>
            <a:cxnSpLocks/>
          </p:cNvCxnSpPr>
          <p:nvPr/>
        </p:nvCxnSpPr>
        <p:spPr>
          <a:xfrm>
            <a:off x="838200" y="163215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777AF98-1E5B-3134-EC86-0043E6663203}"/>
              </a:ext>
            </a:extLst>
          </p:cNvPr>
          <p:cNvCxnSpPr>
            <a:cxnSpLocks/>
          </p:cNvCxnSpPr>
          <p:nvPr/>
        </p:nvCxnSpPr>
        <p:spPr>
          <a:xfrm>
            <a:off x="838200" y="93720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633CDBEA-D5E2-6C07-ABF0-AF980D7DDF5A}"/>
              </a:ext>
            </a:extLst>
          </p:cNvPr>
          <p:cNvSpPr txBox="1">
            <a:spLocks/>
          </p:cNvSpPr>
          <p:nvPr/>
        </p:nvSpPr>
        <p:spPr>
          <a:xfrm>
            <a:off x="838200" y="3266865"/>
            <a:ext cx="10515600" cy="560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2000" dirty="0">
                <a:latin typeface="+mj-lt"/>
              </a:rPr>
              <a:t>6. Guardar las dependencias en un archivo</a:t>
            </a:r>
            <a:endParaRPr lang="es-CL" sz="2000" dirty="0">
              <a:latin typeface="+mj-lt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E083D4E-2BDE-A34B-11AC-5797F7634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35" y="2192931"/>
            <a:ext cx="5395428" cy="87637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BC33EC4-9F1E-A86D-E397-74E3E9078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99" y="2192931"/>
            <a:ext cx="4366638" cy="87637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A4BF3502-DAB5-5D4A-B72F-5AEFA466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35" y="3660001"/>
            <a:ext cx="5265876" cy="87637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35ABAC6C-DAC9-532C-9D13-7A06BB930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880" y="4815799"/>
            <a:ext cx="2280011" cy="131830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5C172E5-2FE4-CFB0-B747-1123CFBC4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599" y="3657459"/>
            <a:ext cx="3337849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9C5D-01A0-3C76-FDB9-621ECE2B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F2418-EAA3-1BA7-D756-9384B6DE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/>
              <a:t>Pasos para crear un entorno virtual en Python</a:t>
            </a:r>
            <a:r>
              <a:rPr lang="es-CL" sz="3200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BFB198-4B86-4689-819A-EE72F054E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141"/>
            <a:ext cx="10515600" cy="560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>
                <a:latin typeface="+mj-lt"/>
              </a:rPr>
              <a:t>7. Desactiva el entorno</a:t>
            </a:r>
            <a:endParaRPr lang="es-CL" sz="2000" dirty="0">
              <a:latin typeface="+mj-lt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3DAB633-305F-839B-685F-3FE5CBDF662C}"/>
              </a:ext>
            </a:extLst>
          </p:cNvPr>
          <p:cNvCxnSpPr>
            <a:cxnSpLocks/>
          </p:cNvCxnSpPr>
          <p:nvPr/>
        </p:nvCxnSpPr>
        <p:spPr>
          <a:xfrm>
            <a:off x="838200" y="163215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D8E2670-CF77-5858-5AB6-A3FCB7B79BED}"/>
              </a:ext>
            </a:extLst>
          </p:cNvPr>
          <p:cNvCxnSpPr>
            <a:cxnSpLocks/>
          </p:cNvCxnSpPr>
          <p:nvPr/>
        </p:nvCxnSpPr>
        <p:spPr>
          <a:xfrm>
            <a:off x="838200" y="93720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9540DE94-FC69-3F43-ED12-A45789FBE070}"/>
              </a:ext>
            </a:extLst>
          </p:cNvPr>
          <p:cNvSpPr txBox="1">
            <a:spLocks/>
          </p:cNvSpPr>
          <p:nvPr/>
        </p:nvSpPr>
        <p:spPr>
          <a:xfrm>
            <a:off x="838200" y="3845985"/>
            <a:ext cx="5600700" cy="560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2000" dirty="0">
                <a:latin typeface="+mj-lt"/>
              </a:rPr>
              <a:t>8. Restaurar dependencias en otro equipo</a:t>
            </a:r>
            <a:endParaRPr lang="es-CL" sz="2000"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BDE58BA-FD12-6A67-7D38-D6E885690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35" y="2191682"/>
            <a:ext cx="5265876" cy="101354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27344C3-CEA4-1920-A0C7-2E75A0060AE2}"/>
              </a:ext>
            </a:extLst>
          </p:cNvPr>
          <p:cNvSpPr txBox="1"/>
          <p:nvPr/>
        </p:nvSpPr>
        <p:spPr>
          <a:xfrm>
            <a:off x="6705601" y="2291945"/>
            <a:ext cx="3337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Esto cuando termines de trabajar en el entorno virtual.</a:t>
            </a:r>
            <a:endParaRPr lang="es-CL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F9FC047-1312-2DC5-EC9F-6CABDF401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775" y="4362111"/>
            <a:ext cx="5265876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2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38B58-CE85-E8B5-8A0D-D390C371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0201-0538-AB1F-6C03-DE82F638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/>
              <a:t>Pasos para crear un entorno virtual en Python</a:t>
            </a:r>
            <a:r>
              <a:rPr lang="es-CL" sz="3200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CF7A8E-5590-CCF3-2B9B-D746769E5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141"/>
            <a:ext cx="10515600" cy="560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>
                <a:latin typeface="+mj-lt"/>
              </a:rPr>
              <a:t>9. Crear un Proyecto dentro del entorno virtual</a:t>
            </a:r>
            <a:endParaRPr lang="es-CL" sz="2000" dirty="0">
              <a:latin typeface="+mj-lt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027AB06-966F-6561-8EF2-5145A2AF6C94}"/>
              </a:ext>
            </a:extLst>
          </p:cNvPr>
          <p:cNvCxnSpPr>
            <a:cxnSpLocks/>
          </p:cNvCxnSpPr>
          <p:nvPr/>
        </p:nvCxnSpPr>
        <p:spPr>
          <a:xfrm>
            <a:off x="838200" y="163215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BE516AB-BD29-E055-F22A-0A5FB32B48CF}"/>
              </a:ext>
            </a:extLst>
          </p:cNvPr>
          <p:cNvCxnSpPr>
            <a:cxnSpLocks/>
          </p:cNvCxnSpPr>
          <p:nvPr/>
        </p:nvCxnSpPr>
        <p:spPr>
          <a:xfrm>
            <a:off x="838200" y="93720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5BF2637-1079-38F2-F0B6-F40DD8A7BD1A}"/>
              </a:ext>
            </a:extLst>
          </p:cNvPr>
          <p:cNvSpPr txBox="1"/>
          <p:nvPr/>
        </p:nvSpPr>
        <p:spPr>
          <a:xfrm>
            <a:off x="1097281" y="2327105"/>
            <a:ext cx="96850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No debes crear tu proyecto dentro de la carpeta del entorno virtual (</a:t>
            </a:r>
            <a:r>
              <a:rPr lang="es-MX" b="1" dirty="0" err="1"/>
              <a:t>evirtual</a:t>
            </a:r>
            <a:r>
              <a:rPr lang="es-MX" b="1" dirty="0"/>
              <a:t>)</a:t>
            </a:r>
            <a:r>
              <a:rPr lang="es-MX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La carpeta </a:t>
            </a:r>
            <a:r>
              <a:rPr lang="es-MX" b="1" dirty="0" err="1"/>
              <a:t>evirtual</a:t>
            </a:r>
            <a:r>
              <a:rPr lang="es-MX" dirty="0"/>
              <a:t> contiene el entorno virtual (binarios, librerías, scripts) y debe mantenerse separada para evitar mezclar código del proyecto con archivos internos del entorno.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El proyecto debe estar en la misma carpeta donde está </a:t>
            </a:r>
            <a:r>
              <a:rPr lang="es-MX" dirty="0" err="1"/>
              <a:t>evirtual</a:t>
            </a:r>
            <a:r>
              <a:rPr lang="es-MX" dirty="0"/>
              <a:t>, o en una estructura organizada como  la siguiente:</a:t>
            </a:r>
            <a:endParaRPr lang="es-CL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02A4C31-405D-C870-26CF-0BCE5A38CC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77"/>
          <a:stretch>
            <a:fillRect/>
          </a:stretch>
        </p:blipFill>
        <p:spPr>
          <a:xfrm>
            <a:off x="5588985" y="3998799"/>
            <a:ext cx="4709568" cy="201338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4822266-EABA-7608-C00A-5C4CF7E9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056" y="3998798"/>
            <a:ext cx="2381324" cy="199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18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4A26D-2E98-23DD-6EE8-E8E2809D0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3CC45-4312-4C15-8FFE-DB515AC0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/>
              <a:t>Pasos para crear un entorno virtual en Python</a:t>
            </a:r>
            <a:r>
              <a:rPr lang="es-CL" sz="3200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D45BE1-E537-693C-F982-826440321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141"/>
            <a:ext cx="10515600" cy="560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>
                <a:latin typeface="+mj-lt"/>
              </a:rPr>
              <a:t>10. Para cargar desde Visual Studio </a:t>
            </a:r>
            <a:r>
              <a:rPr lang="es-MX" sz="2000" dirty="0" err="1">
                <a:latin typeface="+mj-lt"/>
              </a:rPr>
              <a:t>Code</a:t>
            </a:r>
            <a:endParaRPr lang="es-CL" sz="2000" dirty="0">
              <a:latin typeface="+mj-lt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1A7A4C2-557B-2D6B-E777-44B19C4E99B4}"/>
              </a:ext>
            </a:extLst>
          </p:cNvPr>
          <p:cNvCxnSpPr>
            <a:cxnSpLocks/>
          </p:cNvCxnSpPr>
          <p:nvPr/>
        </p:nvCxnSpPr>
        <p:spPr>
          <a:xfrm>
            <a:off x="838200" y="163215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9DADD6C-D560-2878-E1D0-4E14A0B9BAD0}"/>
              </a:ext>
            </a:extLst>
          </p:cNvPr>
          <p:cNvCxnSpPr>
            <a:cxnSpLocks/>
          </p:cNvCxnSpPr>
          <p:nvPr/>
        </p:nvCxnSpPr>
        <p:spPr>
          <a:xfrm>
            <a:off x="838200" y="937205"/>
            <a:ext cx="1062621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0EF09B4-980C-5E47-9033-A348B497AFF2}"/>
              </a:ext>
            </a:extLst>
          </p:cNvPr>
          <p:cNvSpPr txBox="1"/>
          <p:nvPr/>
        </p:nvSpPr>
        <p:spPr>
          <a:xfrm>
            <a:off x="1097281" y="2327105"/>
            <a:ext cx="9685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Debes cambiar el modo de ejecución de PowerShell de </a:t>
            </a:r>
            <a:r>
              <a:rPr lang="es-MX" b="1" dirty="0" err="1"/>
              <a:t>Restricted</a:t>
            </a:r>
            <a:r>
              <a:rPr lang="es-MX" b="1" dirty="0"/>
              <a:t> a </a:t>
            </a:r>
            <a:r>
              <a:rPr lang="es-MX" b="1" dirty="0" err="1"/>
              <a:t>RemoteSigned</a:t>
            </a:r>
            <a:r>
              <a:rPr lang="es-MX" dirty="0"/>
              <a:t> para permitir scripts locales sin firma digital.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FF0000"/>
                </a:solidFill>
              </a:rPr>
              <a:t>Al terminar se sugiere volver al modo </a:t>
            </a:r>
            <a:r>
              <a:rPr lang="es-MX" b="1" dirty="0" err="1">
                <a:solidFill>
                  <a:srgbClr val="FF0000"/>
                </a:solidFill>
              </a:rPr>
              <a:t>Restricted</a:t>
            </a:r>
            <a:r>
              <a:rPr lang="es-MX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FC8A39-7140-30B0-11B9-48E51189D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926" y="3396767"/>
            <a:ext cx="7417136" cy="161538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FDFD560-0499-BD69-E2BE-92A82639983F}"/>
              </a:ext>
            </a:extLst>
          </p:cNvPr>
          <p:cNvSpPr txBox="1"/>
          <p:nvPr/>
        </p:nvSpPr>
        <p:spPr>
          <a:xfrm>
            <a:off x="1000187" y="5158489"/>
            <a:ext cx="51511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s-MX" sz="1600" dirty="0"/>
              <a:t> Abre PowerShell como Administrador.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600" dirty="0"/>
              <a:t>Verifica la política actual.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sz="1600" dirty="0"/>
              <a:t>Cambia la política para permitir scripts locales.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CL" sz="1600" dirty="0"/>
              <a:t>Activa el entorno virtual.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7A6A2CE-8A76-C068-4861-CB00084A8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527" y="5365600"/>
            <a:ext cx="4305673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02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D1FA3-2B3C-39FC-6A36-D692FC68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9354369" cy="2852737"/>
          </a:xfrm>
        </p:spPr>
        <p:txBody>
          <a:bodyPr anchor="ctr" anchorCtr="0">
            <a:normAutofit/>
          </a:bodyPr>
          <a:lstStyle/>
          <a:p>
            <a:pPr algn="ctr"/>
            <a:r>
              <a:rPr lang="es-CL" sz="8000" dirty="0"/>
              <a:t>Gracias.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96993B-3E48-F4E8-81E9-82FC8CD97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03537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3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2B45EB-170D-4416-9C65-7B0B27806BA0}">
  <we:reference id="wa200005566" version="3.0.0.2" store="es-E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6369</TotalTime>
  <Words>485</Words>
  <Application>Microsoft Office PowerPoint</Application>
  <PresentationFormat>Panorámica</PresentationFormat>
  <Paragraphs>55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Berlin Sans FB</vt:lpstr>
      <vt:lpstr>Calibri</vt:lpstr>
      <vt:lpstr>Courier New</vt:lpstr>
      <vt:lpstr>Tema de Office</vt:lpstr>
      <vt:lpstr>Programación Orientada a Objeto Seguro</vt:lpstr>
      <vt:lpstr>Entorno Virtual. </vt:lpstr>
      <vt:lpstr>¿Qué es el entorno virtual en Python?</vt:lpstr>
      <vt:lpstr>Pasos para crear un entorno virtual en Python.</vt:lpstr>
      <vt:lpstr>Pasos para crear un entorno virtual en Python.</vt:lpstr>
      <vt:lpstr>Pasos para crear un entorno virtual en Python.</vt:lpstr>
      <vt:lpstr>Pasos para crear un entorno virtual en Python.</vt:lpstr>
      <vt:lpstr>Pasos para crear un entorno virtual en Python.</vt:lpstr>
      <vt:lpstr>Pasos para crear un entorno virtual en Python.</vt:lpstr>
      <vt:lpstr>Gracias.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 Seguro</dc:title>
  <dc:creator>Alex Díaz Araos</dc:creator>
  <cp:lastModifiedBy>ALEX ALFREDO DIAZ ARAOS</cp:lastModifiedBy>
  <cp:revision>40</cp:revision>
  <dcterms:created xsi:type="dcterms:W3CDTF">2024-01-13T16:29:20Z</dcterms:created>
  <dcterms:modified xsi:type="dcterms:W3CDTF">2025-11-05T00:27:59Z</dcterms:modified>
</cp:coreProperties>
</file>